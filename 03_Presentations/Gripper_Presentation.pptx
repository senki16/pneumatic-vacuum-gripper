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1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rts/chart4.xml" ContentType="application/vnd.openxmlformats-officedocument.drawingml.chart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380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Peso relativo (%)</c:v>
                </c:pt>
              </c:strCache>
            </c:strRef>
          </c:tx>
          <c:spPr>
            <a:solidFill>
              <a:srgbClr val="1F6AA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1CE-450F-BCE8-3A24B286D12B}"/>
              </c:ext>
            </c:extLst>
          </c:dPt>
          <c:dPt>
            <c:idx val="1"/>
            <c:invertIfNegative val="0"/>
            <c:bubble3D val="0"/>
            <c:spPr>
              <a:solidFill>
                <a:srgbClr val="2E9E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1CE-450F-BCE8-3A24B286D12B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1CE-450F-BCE8-3A24B286D12B}"/>
              </c:ext>
            </c:extLst>
          </c:dPt>
          <c:dPt>
            <c:idx val="3"/>
            <c:invertIfNegative val="0"/>
            <c:bubble3D val="0"/>
            <c:spPr>
              <a:solidFill>
                <a:srgbClr val="2E9E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1CE-450F-BCE8-3A24B286D12B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41CE-450F-BCE8-3A24B286D12B}"/>
              </c:ext>
            </c:extLst>
          </c:dPt>
          <c:dPt>
            <c:idx val="5"/>
            <c:invertIfNegative val="0"/>
            <c:bubble3D val="0"/>
            <c:spPr>
              <a:solidFill>
                <a:srgbClr val="2E9E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1CE-450F-BCE8-3A24B286D12B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41CE-450F-BCE8-3A24B286D12B}"/>
              </c:ext>
            </c:extLst>
          </c:dPt>
          <c:dPt>
            <c:idx val="7"/>
            <c:invertIfNegative val="0"/>
            <c:bubble3D val="0"/>
            <c:spPr>
              <a:solidFill>
                <a:srgbClr val="2E9E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41CE-450F-BCE8-3A24B286D12B}"/>
              </c:ext>
            </c:extLst>
          </c:dPt>
          <c:dPt>
            <c:idx val="8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41CE-450F-BCE8-3A24B286D12B}"/>
              </c:ext>
            </c:extLst>
          </c:dPt>
          <c:dPt>
            <c:idx val="9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41CE-450F-BCE8-3A24B286D12B}"/>
              </c:ext>
            </c:extLst>
          </c:dPt>
          <c:dPt>
            <c:idx val="10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41CE-450F-BCE8-3A24B286D12B}"/>
              </c:ext>
            </c:extLst>
          </c:dPt>
          <c:dPt>
            <c:idx val="11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41CE-450F-BCE8-3A24B286D12B}"/>
              </c:ext>
            </c:extLst>
          </c:dPt>
          <c:dPt>
            <c:idx val="12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9-41CE-450F-BCE8-3A24B286D12B}"/>
              </c:ext>
            </c:extLst>
          </c:dPt>
          <c:dPt>
            <c:idx val="13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B-41CE-450F-BCE8-3A24B286D12B}"/>
              </c:ext>
            </c:extLst>
          </c:dPt>
          <c:dPt>
            <c:idx val="14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D-41CE-450F-BCE8-3A24B286D12B}"/>
              </c:ext>
            </c:extLst>
          </c:dPt>
          <c:dPt>
            <c:idx val="15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F-41CE-450F-BCE8-3A24B286D12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B3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Sheet1!$A$2:$A$17</c:f>
              <c:strCache>
                <c:ptCount val="16"/>
                <c:pt idx="0">
                  <c:v>Validación</c:v>
                </c:pt>
                <c:pt idx="1">
                  <c:v>Ciclo vida</c:v>
                </c:pt>
                <c:pt idx="2">
                  <c:v>Fiabilidad</c:v>
                </c:pt>
                <c:pt idx="3">
                  <c:v>Ensamblaje</c:v>
                </c:pt>
                <c:pt idx="4">
                  <c:v>Mantenimiento</c:v>
                </c:pt>
                <c:pt idx="5">
                  <c:v>Seguridad</c:v>
                </c:pt>
                <c:pt idx="6">
                  <c:v>Adquisición</c:v>
                </c:pt>
                <c:pt idx="7">
                  <c:v>Precisión</c:v>
                </c:pt>
                <c:pt idx="8">
                  <c:v>Precio</c:v>
                </c:pt>
                <c:pt idx="9">
                  <c:v>Geometría</c:v>
                </c:pt>
                <c:pt idx="10">
                  <c:v>Disposición</c:v>
                </c:pt>
                <c:pt idx="11">
                  <c:v>Documentación</c:v>
                </c:pt>
                <c:pt idx="12">
                  <c:v>Integración</c:v>
                </c:pt>
                <c:pt idx="13">
                  <c:v>Calibración</c:v>
                </c:pt>
                <c:pt idx="14">
                  <c:v>Programación</c:v>
                </c:pt>
                <c:pt idx="15">
                  <c:v>Fabricación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8.16</c:v>
                </c:pt>
                <c:pt idx="1">
                  <c:v>7.98</c:v>
                </c:pt>
                <c:pt idx="2">
                  <c:v>7.71</c:v>
                </c:pt>
                <c:pt idx="3">
                  <c:v>7.58</c:v>
                </c:pt>
                <c:pt idx="4">
                  <c:v>7.19</c:v>
                </c:pt>
                <c:pt idx="5">
                  <c:v>7.16</c:v>
                </c:pt>
                <c:pt idx="6">
                  <c:v>6.99</c:v>
                </c:pt>
                <c:pt idx="7">
                  <c:v>6.79</c:v>
                </c:pt>
                <c:pt idx="8">
                  <c:v>6.43</c:v>
                </c:pt>
                <c:pt idx="9">
                  <c:v>6.2</c:v>
                </c:pt>
                <c:pt idx="10">
                  <c:v>6.02</c:v>
                </c:pt>
                <c:pt idx="11">
                  <c:v>5.62</c:v>
                </c:pt>
                <c:pt idx="12">
                  <c:v>5.36</c:v>
                </c:pt>
                <c:pt idx="13">
                  <c:v>5.36</c:v>
                </c:pt>
                <c:pt idx="14">
                  <c:v>3.62</c:v>
                </c:pt>
                <c:pt idx="15">
                  <c:v>1.82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0-41CE-450F-BCE8-3A24B286D1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B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Prototipo ($1.701.700)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Prototipo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6A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D55-44B6-9915-1AED0B5966BF}"/>
              </c:ext>
            </c:extLst>
          </c:dPt>
          <c:dPt>
            <c:idx val="1"/>
            <c:bubble3D val="0"/>
            <c:spPr>
              <a:solidFill>
                <a:srgbClr val="2E9E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D55-44B6-9915-1AED0B5966BF}"/>
              </c:ext>
            </c:extLst>
          </c:dPt>
          <c:dPt>
            <c:idx val="2"/>
            <c:bubble3D val="0"/>
            <c:spPr>
              <a:solidFill>
                <a:srgbClr val="F0A5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D55-44B6-9915-1AED0B5966BF}"/>
              </c:ext>
            </c:extLst>
          </c:dPt>
          <c:dPt>
            <c:idx val="3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D55-44B6-9915-1AED0B5966BF}"/>
              </c:ext>
            </c:extLst>
          </c:dPt>
          <c:dPt>
            <c:idx val="4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D55-44B6-9915-1AED0B5966BF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D55-44B6-9915-1AED0B5966BF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D55-44B6-9915-1AED0B5966BF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D55-44B6-9915-1AED0B5966BF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D55-44B6-9915-1AED0B5966BF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D55-44B6-9915-1AED0B5966B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Neumática</c:v>
                </c:pt>
                <c:pt idx="1">
                  <c:v>Mano de obra</c:v>
                </c:pt>
                <c:pt idx="2">
                  <c:v>Electrónica</c:v>
                </c:pt>
                <c:pt idx="3">
                  <c:v>Material</c:v>
                </c:pt>
                <c:pt idx="4">
                  <c:v>Sujeción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765000</c:v>
                </c:pt>
                <c:pt idx="1">
                  <c:v>675000</c:v>
                </c:pt>
                <c:pt idx="2">
                  <c:v>164000</c:v>
                </c:pt>
                <c:pt idx="3">
                  <c:v>92500</c:v>
                </c:pt>
                <c:pt idx="4">
                  <c:v>5200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D55-44B6-9915-1AED0B5966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Industrial ($1.726.700)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Industrial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6A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C2D-4C34-80F8-E81A6AEC348B}"/>
              </c:ext>
            </c:extLst>
          </c:dPt>
          <c:dPt>
            <c:idx val="1"/>
            <c:bubble3D val="0"/>
            <c:spPr>
              <a:solidFill>
                <a:srgbClr val="2E9E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C2D-4C34-80F8-E81A6AEC348B}"/>
              </c:ext>
            </c:extLst>
          </c:dPt>
          <c:dPt>
            <c:idx val="2"/>
            <c:bubble3D val="0"/>
            <c:spPr>
              <a:solidFill>
                <a:srgbClr val="F0A5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C2D-4C34-80F8-E81A6AEC348B}"/>
              </c:ext>
            </c:extLst>
          </c:dPt>
          <c:dPt>
            <c:idx val="3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C2D-4C34-80F8-E81A6AEC348B}"/>
              </c:ext>
            </c:extLst>
          </c:dPt>
          <c:dPt>
            <c:idx val="4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C2D-4C34-80F8-E81A6AEC348B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C2D-4C34-80F8-E81A6AEC348B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C2D-4C34-80F8-E81A6AEC348B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C2D-4C34-80F8-E81A6AEC348B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C2D-4C34-80F8-E81A6AEC348B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C2D-4C34-80F8-E81A6AEC348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Neumática</c:v>
                </c:pt>
                <c:pt idx="1">
                  <c:v>Mano de obra</c:v>
                </c:pt>
                <c:pt idx="2">
                  <c:v>Electrónica</c:v>
                </c:pt>
                <c:pt idx="3">
                  <c:v>Material</c:v>
                </c:pt>
                <c:pt idx="4">
                  <c:v>Sujeción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765000</c:v>
                </c:pt>
                <c:pt idx="1">
                  <c:v>567500</c:v>
                </c:pt>
                <c:pt idx="2">
                  <c:v>334000</c:v>
                </c:pt>
                <c:pt idx="3">
                  <c:v>55000</c:v>
                </c:pt>
                <c:pt idx="4">
                  <c:v>5200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C2D-4C34-80F8-E81A6AEC34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Costo total</c:v>
                </c:pt>
              </c:strCache>
            </c:strRef>
          </c:tx>
          <c:spPr>
            <a:solidFill>
              <a:srgbClr val="1F6AA5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Prototipo</c:v>
                </c:pt>
                <c:pt idx="1">
                  <c:v>Industrial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1701700</c:v>
                </c:pt>
                <c:pt idx="1">
                  <c:v>1726700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A8-42B7-91C2-2965AE74234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Precio de venta</c:v>
                </c:pt>
              </c:strCache>
            </c:strRef>
          </c:tx>
          <c:spPr>
            <a:solidFill>
              <a:srgbClr val="F0A500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Prototipo</c:v>
                </c:pt>
                <c:pt idx="1">
                  <c:v>Industrial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3063060</c:v>
                </c:pt>
                <c:pt idx="1">
                  <c:v>3108060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1A8-42B7-91C2-2965AE74234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Utilidad bruta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Prototipo</c:v>
                </c:pt>
                <c:pt idx="1">
                  <c:v>Industrial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1361360</c:v>
                </c:pt>
                <c:pt idx="1">
                  <c:v>1381360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1A8-42B7-91C2-2965AE7423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B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2843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22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43600" y="0"/>
            <a:ext cx="54864" cy="5143500"/>
          </a:xfrm>
          <a:prstGeom prst="rect">
            <a:avLst/>
          </a:prstGeom>
          <a:solidFill>
            <a:srgbClr val="2E9E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57200"/>
            <a:ext cx="2103120" cy="74980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26480" y="1371600"/>
            <a:ext cx="2834640" cy="3474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5029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274320" y="100584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Modelo Funcional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Evaluación de Diseño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274320" y="26060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A8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Sistema Gripper Neumático</a:t>
            </a:r>
            <a:endParaRPr lang="en-US" sz="1700" dirty="0"/>
          </a:p>
          <a:p>
            <a:pPr marL="0" indent="0" algn="l">
              <a:buNone/>
            </a:pPr>
            <a:r>
              <a:rPr lang="en-US" sz="1700" i="1" dirty="0">
                <a:solidFill>
                  <a:srgbClr val="A8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para Brazo Robótico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274320" y="370332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</a:t>
            </a: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Ruiz • Zuluaga • Quintero • Guerrero • Enríquez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Profesor: </a:t>
            </a: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Ronald M. Martinod Restrepo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EAFIT — Grupo 6  |  8 de mayo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73152"/>
            <a:ext cx="100584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74320" y="960120"/>
            <a:ext cx="41605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74320" y="960120"/>
            <a:ext cx="566928" cy="777240"/>
          </a:xfrm>
          <a:prstGeom prst="rect">
            <a:avLst/>
          </a:prstGeom>
          <a:solidFill>
            <a:srgbClr val="1F6A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1124712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32688" y="96012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Introducción y Objetivos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274320" y="1920240"/>
            <a:ext cx="41605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274320" y="1920240"/>
            <a:ext cx="566928" cy="777240"/>
          </a:xfrm>
          <a:prstGeom prst="rect">
            <a:avLst/>
          </a:prstGeom>
          <a:solidFill>
            <a:srgbClr val="2E9E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2084832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32688" y="192024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Cartas de Proceso de Fabricación (F1–F7)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274320" y="2880360"/>
            <a:ext cx="41605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274320" y="2880360"/>
            <a:ext cx="566928" cy="777240"/>
          </a:xfrm>
          <a:prstGeom prst="rect">
            <a:avLst/>
          </a:prstGeom>
          <a:solidFill>
            <a:srgbClr val="1F6A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3044952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32688" y="288036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Desarrollo del Prototipo y Calibración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274320" y="3840480"/>
            <a:ext cx="41605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274320" y="3840480"/>
            <a:ext cx="566928" cy="777240"/>
          </a:xfrm>
          <a:prstGeom prst="rect">
            <a:avLst/>
          </a:prstGeom>
          <a:solidFill>
            <a:srgbClr val="2E9E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" y="4005072"/>
            <a:ext cx="411480" cy="411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32688" y="384048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Indicadores de Evaluación y Plan de Pruebas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4754880" y="960120"/>
            <a:ext cx="41605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6"/>
          <p:cNvSpPr/>
          <p:nvPr/>
        </p:nvSpPr>
        <p:spPr>
          <a:xfrm>
            <a:off x="4754880" y="960120"/>
            <a:ext cx="566928" cy="777240"/>
          </a:xfrm>
          <a:prstGeom prst="rect">
            <a:avLst/>
          </a:prstGeom>
          <a:solidFill>
            <a:srgbClr val="1F6A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8032" y="1124712"/>
            <a:ext cx="411480" cy="4114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413248" y="96012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Matriz QFD — Componentes vs. Proceso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754880" y="1920240"/>
            <a:ext cx="41605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19"/>
          <p:cNvSpPr/>
          <p:nvPr/>
        </p:nvSpPr>
        <p:spPr>
          <a:xfrm>
            <a:off x="4754880" y="1920240"/>
            <a:ext cx="566928" cy="777240"/>
          </a:xfrm>
          <a:prstGeom prst="rect">
            <a:avLst/>
          </a:prstGeom>
          <a:solidFill>
            <a:srgbClr val="2E9E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28032" y="2084832"/>
            <a:ext cx="411480" cy="41148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413248" y="192024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Análisis de Costos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54880" y="2880360"/>
            <a:ext cx="41605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2"/>
          <p:cNvSpPr/>
          <p:nvPr/>
        </p:nvSpPr>
        <p:spPr>
          <a:xfrm>
            <a:off x="4754880" y="2880360"/>
            <a:ext cx="566928" cy="777240"/>
          </a:xfrm>
          <a:prstGeom prst="rect">
            <a:avLst/>
          </a:prstGeom>
          <a:solidFill>
            <a:srgbClr val="1F6A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28032" y="3044952"/>
            <a:ext cx="411480" cy="41148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413248" y="288036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Viabilidad Económica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754880" y="3840480"/>
            <a:ext cx="41605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5"/>
          <p:cNvSpPr/>
          <p:nvPr/>
        </p:nvSpPr>
        <p:spPr>
          <a:xfrm>
            <a:off x="4754880" y="3840480"/>
            <a:ext cx="566928" cy="777240"/>
          </a:xfrm>
          <a:prstGeom prst="rect">
            <a:avLst/>
          </a:prstGeom>
          <a:solidFill>
            <a:srgbClr val="2E9E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28032" y="4005072"/>
            <a:ext cx="411480" cy="41148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5413248" y="384048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Conclusiones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6A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37160" y="4572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4630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0" y="1645920"/>
            <a:ext cx="5669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Objetivos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73152"/>
            <a:ext cx="100584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4320" y="914400"/>
            <a:ext cx="50292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6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grippers son el elemento de interacción directa entre el robot y su entorno. Su diseño debe garantizar precisión, repetibilidad y eficiencia operativa.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6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Desarrollar, ensamblar y validar un prototipo funcional de gripper neumático para brazo robótico, evaluando su viabilidad técnica y económica.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6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cartas de proceso de fabricación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el prototipo (tol. ±0,1 mm, Ra 3,2 µm)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y calibrar el sistema neumático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Establecer KPIs y plan de pruebas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matriz QFD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costos y viabilidad económica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94960" y="868680"/>
            <a:ext cx="35204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6A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37160" y="4572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4630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0" y="1645920"/>
            <a:ext cx="5669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Cartas de Proceso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Fabricación F1–F7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73152"/>
            <a:ext cx="100584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Cartas de Proceso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28600" y="914400"/>
            <a:ext cx="21031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28600" y="914400"/>
            <a:ext cx="2103120" cy="475488"/>
          </a:xfrm>
          <a:prstGeom prst="rect">
            <a:avLst/>
          </a:prstGeom>
          <a:solidFill>
            <a:srgbClr val="1F6A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28600" y="9144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01752" y="1435608"/>
            <a:ext cx="195681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Ventosas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01752" y="2103120"/>
            <a:ext cx="1956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/ Ciclo: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/ 210 min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459736" y="914400"/>
            <a:ext cx="21031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459736" y="914400"/>
            <a:ext cx="2103120" cy="475488"/>
          </a:xfrm>
          <a:prstGeom prst="rect">
            <a:avLst/>
          </a:prstGeom>
          <a:solidFill>
            <a:srgbClr val="2E9E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459736" y="9144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532888" y="1435608"/>
            <a:ext cx="195681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Acople Superior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532888" y="2103120"/>
            <a:ext cx="1956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/ Ciclo: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/ 185 min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690872" y="914400"/>
            <a:ext cx="21031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690872" y="914400"/>
            <a:ext cx="2103120" cy="475488"/>
          </a:xfrm>
          <a:prstGeom prst="rect">
            <a:avLst/>
          </a:prstGeom>
          <a:solidFill>
            <a:srgbClr val="1F6A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690872" y="9144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764024" y="1435608"/>
            <a:ext cx="195681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Acople de Robot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764024" y="2103120"/>
            <a:ext cx="1956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/ Ciclo: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/ 145 min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922008" y="914400"/>
            <a:ext cx="21031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922008" y="914400"/>
            <a:ext cx="2103120" cy="475488"/>
          </a:xfrm>
          <a:prstGeom prst="rect">
            <a:avLst/>
          </a:prstGeom>
          <a:solidFill>
            <a:srgbClr val="2E9E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922008" y="9144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995160" y="1435608"/>
            <a:ext cx="195681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Comp. Comerciales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995160" y="2103120"/>
            <a:ext cx="1956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/ Ciclo: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/ — min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28600" y="2971800"/>
            <a:ext cx="21031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228600" y="2971800"/>
            <a:ext cx="2103120" cy="475488"/>
          </a:xfrm>
          <a:prstGeom prst="rect">
            <a:avLst/>
          </a:prstGeom>
          <a:solidFill>
            <a:srgbClr val="1F6A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228600" y="29718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301752" y="3493008"/>
            <a:ext cx="195681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Ensamblaje Final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01752" y="4160520"/>
            <a:ext cx="1956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/ Ciclo: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/ — min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2459736" y="2971800"/>
            <a:ext cx="21031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2459736" y="2971800"/>
            <a:ext cx="2103120" cy="475488"/>
          </a:xfrm>
          <a:prstGeom prst="rect">
            <a:avLst/>
          </a:prstGeom>
          <a:solidFill>
            <a:srgbClr val="2E9E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2459736" y="29718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2532888" y="3493008"/>
            <a:ext cx="195681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Ensamble Eléctrico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2532888" y="4160520"/>
            <a:ext cx="1956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/ Ciclo: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/ 125 min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690872" y="2971800"/>
            <a:ext cx="21031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4690872" y="2971800"/>
            <a:ext cx="2103120" cy="475488"/>
          </a:xfrm>
          <a:prstGeom prst="rect">
            <a:avLst/>
          </a:prstGeom>
          <a:solidFill>
            <a:srgbClr val="1F6A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4690872" y="29718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F7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4764024" y="3493008"/>
            <a:ext cx="195681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Ensamble Neumático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4764024" y="4160520"/>
            <a:ext cx="1956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/ Ciclo: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110 min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8887968" y="914400"/>
            <a:ext cx="109728" cy="397764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228600" y="4617720"/>
            <a:ext cx="8686800" cy="38404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228600" y="461772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395 min setup  |  775 min ciclo  |  Norma: ISO 9001:2015 / ASME / DIN ISO 1711-1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64008"/>
            <a:ext cx="100584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— Base Ventosas</a:t>
            </a:r>
            <a:endParaRPr lang="en-US" sz="2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15894" y="658368"/>
            <a:ext cx="4624444" cy="4114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182880" y="477316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0A5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 6061-T6 | 150×150×20 mm | Ø66 central | 8×Ø5 | Ra 3,2 µm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64008"/>
            <a:ext cx="100584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— Acople Superior</a:t>
            </a:r>
            <a:endParaRPr lang="en-US" sz="2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361304" y="658368"/>
            <a:ext cx="3931920" cy="4114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182880" y="477316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0A5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 6061-T6 | Ø75 ext. | Ø44,47 int. | L=28 mm | 8×Ø5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64008"/>
            <a:ext cx="100584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— Acople de Robot</a:t>
            </a:r>
            <a:endParaRPr lang="en-US" sz="2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428539" y="658368"/>
            <a:ext cx="4086561" cy="4114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182880" y="477316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0A5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 6061-T6 | Ø75×21 mm | Escalón Ø40,77 | Ranura 14×13 mm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64008"/>
            <a:ext cx="100584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— Componentes Comerciales</a:t>
            </a:r>
            <a:endParaRPr lang="en-US" sz="2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46150" y="749808"/>
            <a:ext cx="4516867" cy="4114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182880" y="477316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0A5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FESTO VN-10-H | 4× ventosas Ø25 | Cinta PTFE | Prueba vacío ≥ −0,60 bar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64008"/>
            <a:ext cx="100584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— Ensamblaje Final</a:t>
            </a:r>
            <a:endParaRPr lang="en-US" sz="2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347184" y="749808"/>
            <a:ext cx="4449632" cy="4114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182880" y="477316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0A5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 2,9 Nm secuencia cruzada | 4 bar/60 s estanqueidad | 500 g/30 s funcional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64008"/>
            <a:ext cx="100584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 — Ensamble Eléctrico</a:t>
            </a:r>
            <a:endParaRPr lang="en-US" sz="2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17524" t="-5991" r="17447" b="65709"/>
          <a:stretch>
            <a:fillRect/>
          </a:stretch>
        </p:blipFill>
        <p:spPr>
          <a:xfrm>
            <a:off x="71803" y="237744"/>
            <a:ext cx="4500197" cy="422038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182880" y="477316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0A5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ESP32 | 24 VDC/5 A | LM2596 | AMS1117 | IRF540N | Relé K1 | Diodos 1N4007</a:t>
            </a:r>
            <a:endParaRPr lang="en-US" sz="1100" dirty="0"/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F5D67458-3CF4-6F02-DFA0-51C42219C77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524" t="34158" r="17447" b="24478"/>
          <a:stretch>
            <a:fillRect/>
          </a:stretch>
        </p:blipFill>
        <p:spPr>
          <a:xfrm>
            <a:off x="4764852" y="722377"/>
            <a:ext cx="4066913" cy="39165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64008"/>
            <a:ext cx="100584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F7 — Ensamble Neumático</a:t>
            </a:r>
            <a:endParaRPr lang="en-US" sz="2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17988" r="18750" b="67809"/>
          <a:stretch>
            <a:fillRect/>
          </a:stretch>
        </p:blipFill>
        <p:spPr>
          <a:xfrm>
            <a:off x="228600" y="943062"/>
            <a:ext cx="4154074" cy="3533687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182880" y="477316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0A5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VN-10-H 4–6 bar | EV 5/2 | Manifold 1×4 | Vacuostato −0,60 bar | FRL</a:t>
            </a:r>
            <a:endParaRPr lang="en-US" sz="1100" dirty="0"/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0C1F458A-9821-0A78-3D3C-1E4A9001A90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988" t="31846" r="18750" b="29153"/>
          <a:stretch>
            <a:fillRect/>
          </a:stretch>
        </p:blipFill>
        <p:spPr>
          <a:xfrm>
            <a:off x="4589780" y="1000781"/>
            <a:ext cx="4325620" cy="341881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6A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37160" y="4572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4630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0" y="1645920"/>
            <a:ext cx="5669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del Prototipo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Calibración</a:t>
            </a:r>
            <a:endParaRPr lang="en-US" sz="3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73152"/>
            <a:ext cx="100584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 de Ensamblaje y Calibración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182880" y="960120"/>
            <a:ext cx="1005840" cy="1005840"/>
          </a:xfrm>
          <a:prstGeom prst="rect">
            <a:avLst/>
          </a:prstGeom>
          <a:solidFill>
            <a:srgbClr val="1F6A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82880" y="960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1188720" y="1463040"/>
            <a:ext cx="1097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37160" y="201168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Fabricación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6061-T6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37160" y="269748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Torno + Fresadora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Taladro columna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298448" y="960120"/>
            <a:ext cx="1005840" cy="1005840"/>
          </a:xfrm>
          <a:prstGeom prst="rect">
            <a:avLst/>
          </a:prstGeom>
          <a:solidFill>
            <a:srgbClr val="2E9E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298448" y="960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2304288" y="1463040"/>
            <a:ext cx="1097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252728" y="201168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Dimensional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252728" y="269748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Vernier · Micróm.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Comparador TIR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414016" y="960120"/>
            <a:ext cx="1005840" cy="1005840"/>
          </a:xfrm>
          <a:prstGeom prst="rect">
            <a:avLst/>
          </a:prstGeom>
          <a:solidFill>
            <a:srgbClr val="1F6A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414016" y="960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Shape 15"/>
          <p:cNvSpPr/>
          <p:nvPr/>
        </p:nvSpPr>
        <p:spPr>
          <a:xfrm>
            <a:off x="3419856" y="1463040"/>
            <a:ext cx="1097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2368296" y="201168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Comerciales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368296" y="269748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PTFE + Prueba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VN-10-H ≥−0,60 bar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529584" y="960120"/>
            <a:ext cx="1005840" cy="1005840"/>
          </a:xfrm>
          <a:prstGeom prst="rect">
            <a:avLst/>
          </a:prstGeom>
          <a:solidFill>
            <a:srgbClr val="2E9E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3529584" y="960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Shape 20"/>
          <p:cNvSpPr/>
          <p:nvPr/>
        </p:nvSpPr>
        <p:spPr>
          <a:xfrm>
            <a:off x="4535424" y="1463040"/>
            <a:ext cx="1097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483864" y="201168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Ensamble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Eléctrico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483864" y="269748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LM2596→5V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AMS1117→3,3V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645152" y="960120"/>
            <a:ext cx="1005840" cy="1005840"/>
          </a:xfrm>
          <a:prstGeom prst="rect">
            <a:avLst/>
          </a:prstGeom>
          <a:solidFill>
            <a:srgbClr val="1F6A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645152" y="960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8" name="Shape 25"/>
          <p:cNvSpPr/>
          <p:nvPr/>
        </p:nvSpPr>
        <p:spPr>
          <a:xfrm>
            <a:off x="5650992" y="1463040"/>
            <a:ext cx="1097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599432" y="201168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Ensamble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Neumático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599432" y="269748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Manifold + EV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Vacuostato −0,60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760720" y="960120"/>
            <a:ext cx="1005840" cy="1005840"/>
          </a:xfrm>
          <a:prstGeom prst="rect">
            <a:avLst/>
          </a:prstGeom>
          <a:solidFill>
            <a:srgbClr val="2E9E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760720" y="960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33" name="Shape 30"/>
          <p:cNvSpPr/>
          <p:nvPr/>
        </p:nvSpPr>
        <p:spPr>
          <a:xfrm>
            <a:off x="6766560" y="1463040"/>
            <a:ext cx="1097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5715000" y="201168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Ensamble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715000" y="269748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2,9 Nm cruz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1→3→2→4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876288" y="960120"/>
            <a:ext cx="1005840" cy="1005840"/>
          </a:xfrm>
          <a:prstGeom prst="rect">
            <a:avLst/>
          </a:prstGeom>
          <a:solidFill>
            <a:srgbClr val="1F6A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6876288" y="960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38" name="Shape 35"/>
          <p:cNvSpPr/>
          <p:nvPr/>
        </p:nvSpPr>
        <p:spPr>
          <a:xfrm>
            <a:off x="7882128" y="1463040"/>
            <a:ext cx="1097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6830568" y="201168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Estanqueidad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bar / 60 s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830568" y="269748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Sin burbujas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QC-E-003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7991856" y="960120"/>
            <a:ext cx="1005840" cy="1005840"/>
          </a:xfrm>
          <a:prstGeom prst="rect">
            <a:avLst/>
          </a:prstGeom>
          <a:solidFill>
            <a:srgbClr val="2E9E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7991856" y="960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43" name="Text 40"/>
          <p:cNvSpPr/>
          <p:nvPr/>
        </p:nvSpPr>
        <p:spPr>
          <a:xfrm>
            <a:off x="7946136" y="201168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7946136" y="269748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500 g · 30 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Vacío ≥−0,60 bar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228600" y="3520440"/>
            <a:ext cx="2103120" cy="144475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228600" y="3520440"/>
            <a:ext cx="2103120" cy="320040"/>
          </a:xfrm>
          <a:prstGeom prst="rect">
            <a:avLst/>
          </a:prstGeom>
          <a:solidFill>
            <a:srgbClr val="1F6A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228600" y="3520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Neumática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320040" y="388620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VN-10-H 4–6 bar → vacío ≥ −0,60 bar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2459736" y="3520440"/>
            <a:ext cx="2103120" cy="144475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2459736" y="3520440"/>
            <a:ext cx="2103120" cy="320040"/>
          </a:xfrm>
          <a:prstGeom prst="rect">
            <a:avLst/>
          </a:prstGeom>
          <a:solidFill>
            <a:srgbClr val="2E9E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2459736" y="3520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Vacuostato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2551176" y="388620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Setpoint −0,60 bar → GPIO34 vía divisor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4690872" y="3520440"/>
            <a:ext cx="2103120" cy="144475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1"/>
          <p:cNvSpPr/>
          <p:nvPr/>
        </p:nvSpPr>
        <p:spPr>
          <a:xfrm>
            <a:off x="4690872" y="3520440"/>
            <a:ext cx="2103120" cy="320040"/>
          </a:xfrm>
          <a:prstGeom prst="rect">
            <a:avLst/>
          </a:prstGeom>
          <a:solidFill>
            <a:srgbClr val="1F6A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4690872" y="3520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tornillos</a:t>
            </a:r>
            <a:endParaRPr lang="en-US" sz="1200" dirty="0"/>
          </a:p>
        </p:txBody>
      </p:sp>
      <p:sp>
        <p:nvSpPr>
          <p:cNvPr id="56" name="Text 53"/>
          <p:cNvSpPr/>
          <p:nvPr/>
        </p:nvSpPr>
        <p:spPr>
          <a:xfrm>
            <a:off x="4782312" y="388620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 Nm DIN ISO 1711-1 → secuencia cruzada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6922008" y="3520440"/>
            <a:ext cx="2103120" cy="144475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55"/>
          <p:cNvSpPr/>
          <p:nvPr/>
        </p:nvSpPr>
        <p:spPr>
          <a:xfrm>
            <a:off x="6922008" y="3520440"/>
            <a:ext cx="2103120" cy="320040"/>
          </a:xfrm>
          <a:prstGeom prst="rect">
            <a:avLst/>
          </a:prstGeom>
          <a:solidFill>
            <a:srgbClr val="2E9E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/>
          <p:nvPr/>
        </p:nvSpPr>
        <p:spPr>
          <a:xfrm>
            <a:off x="6922008" y="3520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ESP32</a:t>
            </a:r>
            <a:endParaRPr lang="en-US" sz="1200" dirty="0"/>
          </a:p>
        </p:txBody>
      </p:sp>
      <p:sp>
        <p:nvSpPr>
          <p:cNvPr id="60" name="Text 57"/>
          <p:cNvSpPr/>
          <p:nvPr/>
        </p:nvSpPr>
        <p:spPr>
          <a:xfrm>
            <a:off x="7013448" y="388620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MPX5700 con divisor 10 kΩ / 4,7 kΩ → ≤ 3,3 V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6A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37160" y="4572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4630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0" y="1645920"/>
            <a:ext cx="5669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Evaluación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Plan de Pruebas</a:t>
            </a:r>
            <a:endParaRPr lang="en-US" sz="3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73152"/>
            <a:ext cx="100584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y Plan de Pruebas del Gripper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28600" y="914400"/>
            <a:ext cx="27889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28600" y="914400"/>
            <a:ext cx="2788920" cy="384048"/>
          </a:xfrm>
          <a:prstGeom prst="rect">
            <a:avLst/>
          </a:prstGeom>
          <a:solidFill>
            <a:srgbClr val="1F6A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28600" y="91440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Fuerza de agarre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0040" y="1353312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6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 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320040" y="19202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MPX5700 + dinamómetro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136392" y="914400"/>
            <a:ext cx="27889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136392" y="914400"/>
            <a:ext cx="2788920" cy="384048"/>
          </a:xfrm>
          <a:prstGeom prst="rect">
            <a:avLst/>
          </a:prstGeom>
          <a:solidFill>
            <a:srgbClr val="2E9E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136392" y="91440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 posic.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27832" y="1353312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9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0,5 mm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3227832" y="19202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Comparador / regla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44184" y="914400"/>
            <a:ext cx="27889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044184" y="914400"/>
            <a:ext cx="2788920" cy="384048"/>
          </a:xfrm>
          <a:prstGeom prst="rect">
            <a:avLst/>
          </a:prstGeom>
          <a:solidFill>
            <a:srgbClr val="1F6A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044184" y="91440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Repetibilidad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135624" y="1353312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6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95% éxito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135624" y="19202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30 ciclos sucesivos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28600" y="2834640"/>
            <a:ext cx="27889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228600" y="2834640"/>
            <a:ext cx="2788920" cy="384048"/>
          </a:xfrm>
          <a:prstGeom prst="rect">
            <a:avLst/>
          </a:prstGeom>
          <a:solidFill>
            <a:srgbClr val="2E9E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228600" y="283464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respuesta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20040" y="3273552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9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0,5 s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320040" y="384048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Cronómetro / oscilosc.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136392" y="2834640"/>
            <a:ext cx="27889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3136392" y="2834640"/>
            <a:ext cx="2788920" cy="384048"/>
          </a:xfrm>
          <a:prstGeom prst="rect">
            <a:avLst/>
          </a:prstGeom>
          <a:solidFill>
            <a:srgbClr val="1F6A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3136392" y="283464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de carga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227832" y="3273552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6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500 g / 30 s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3227832" y="384048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Pieza patrón + cronóm.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044184" y="2834640"/>
            <a:ext cx="27889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6044184" y="2834640"/>
            <a:ext cx="2788920" cy="384048"/>
          </a:xfrm>
          <a:prstGeom prst="rect">
            <a:avLst/>
          </a:prstGeom>
          <a:solidFill>
            <a:srgbClr val="2E9E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044184" y="283464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Vacío de operación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135624" y="3273552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9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−0,60 bar</a:t>
            </a:r>
            <a:endParaRPr lang="en-US" sz="2000" dirty="0"/>
          </a:p>
        </p:txBody>
      </p:sp>
      <p:sp>
        <p:nvSpPr>
          <p:cNvPr id="35" name="Text 32"/>
          <p:cNvSpPr/>
          <p:nvPr/>
        </p:nvSpPr>
        <p:spPr>
          <a:xfrm>
            <a:off x="6135624" y="384048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Vacuómetro calibrado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6A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37160" y="4572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6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4630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0" y="1645920"/>
            <a:ext cx="5669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QFD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vs. Proceso</a:t>
            </a:r>
            <a:endParaRPr lang="en-US" sz="3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64008"/>
            <a:ext cx="100584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 de la Calidad — QFD</a:t>
            </a:r>
            <a:endParaRPr lang="en-US" sz="2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62560" y="707644"/>
            <a:ext cx="8686800" cy="40690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8C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16 componentes × 16 variables | Relaciones: Fuerte ●  Moderada ○  Débil ▽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64008"/>
            <a:ext cx="100584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QFD — Requisitos Funcionales vs. Variables</a:t>
            </a:r>
            <a:endParaRPr lang="en-US" sz="2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28600" y="777240"/>
            <a:ext cx="8686800" cy="40690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8C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Comparación con 5 competidores | Mayor impacto: Validación 8,2% · Ciclo de vida 8,0% · Fiabilidad 7,7%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73152"/>
            <a:ext cx="100584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QFD — Importancia Técnica Relativa</a:t>
            </a:r>
            <a:endParaRPr lang="en-US" sz="2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28600" y="868680"/>
          <a:ext cx="868680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F6A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37160" y="4572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6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4630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0" y="1645920"/>
            <a:ext cx="5669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Costos</a:t>
            </a:r>
            <a:endParaRPr lang="en-US" sz="3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73152"/>
            <a:ext cx="100584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Costos — Prototipo vs. Industrial</a:t>
            </a:r>
            <a:endParaRPr lang="en-US" sz="2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182880" y="868680"/>
          <a:ext cx="4114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754880" y="868680"/>
          <a:ext cx="4114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Shape 3"/>
          <p:cNvSpPr/>
          <p:nvPr/>
        </p:nvSpPr>
        <p:spPr>
          <a:xfrm>
            <a:off x="0" y="4160520"/>
            <a:ext cx="9144000" cy="97840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4"/>
          <p:cNvSpPr/>
          <p:nvPr/>
        </p:nvSpPr>
        <p:spPr>
          <a:xfrm>
            <a:off x="457200" y="4187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Prototipo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457200" y="446227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$1.701.700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2651760" y="4187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Industrial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2651760" y="446227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$1.726.700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4846320" y="4187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P. Venta Proto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4846320" y="446227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$3.063.060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7040880" y="4187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Margen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7040880" y="446227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44,4%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64008"/>
            <a:ext cx="100584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Prototipo — Detalle por Ítem</a:t>
            </a:r>
            <a:endParaRPr lang="en-US" sz="2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28600" y="777240"/>
            <a:ext cx="8686800" cy="40690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8C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VN-10-H 19,1% · Mano de obra CAD 21,2% · Total $1.701.700 COP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64008"/>
            <a:ext cx="100584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Industrial — Detalle por Ítem</a:t>
            </a:r>
            <a:endParaRPr lang="en-US" sz="2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28600" y="777240"/>
            <a:ext cx="8686800" cy="40690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8C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Vacuostato 24V 12,2% · Aluminio estructura 3,2% · Total $1.726.700 COP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F6A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37160" y="4572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6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4630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0" y="1645920"/>
            <a:ext cx="5669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Viabilidad Económica</a:t>
            </a:r>
            <a:endParaRPr lang="en-US" sz="3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73152"/>
            <a:ext cx="100584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Económica y Viabilidad</a:t>
            </a:r>
            <a:endParaRPr lang="en-US" sz="2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182880" y="868680"/>
          <a:ext cx="530352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5623560" y="914400"/>
            <a:ext cx="32918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5623560" y="914400"/>
            <a:ext cx="73152" cy="91440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5742432" y="95097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Diferencia costo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742432" y="129844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$25.000 COP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(+1,5%)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623560" y="1938528"/>
            <a:ext cx="32918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5623560" y="1938528"/>
            <a:ext cx="73152" cy="914400"/>
          </a:xfrm>
          <a:prstGeom prst="rect">
            <a:avLst/>
          </a:prstGeom>
          <a:solidFill>
            <a:srgbClr val="2E9E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5742432" y="197510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Margen s/ precio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742432" y="232257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44,4%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escenarios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623560" y="2962656"/>
            <a:ext cx="32918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623560" y="2962656"/>
            <a:ext cx="73152" cy="91440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5742432" y="2999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Precio mín. proto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742432" y="3346704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$3.063.060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5623560" y="3986784"/>
            <a:ext cx="32918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5623560" y="3986784"/>
            <a:ext cx="73152" cy="914400"/>
          </a:xfrm>
          <a:prstGeom prst="rect">
            <a:avLst/>
          </a:prstGeom>
          <a:solidFill>
            <a:srgbClr val="2E9E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5742432" y="4023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Precio mín. ind.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742432" y="437083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$3.108.060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5623560" y="4937760"/>
            <a:ext cx="3291840" cy="182880"/>
          </a:xfrm>
          <a:prstGeom prst="rect">
            <a:avLst/>
          </a:prstGeom>
          <a:solidFill>
            <a:srgbClr val="E8F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5623560" y="4919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Margen 80% | Línea de aire existente (costo $0)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F6A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37160" y="4572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6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4630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0" y="1645920"/>
            <a:ext cx="5669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2284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91440"/>
            <a:ext cx="100584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74320" y="822960"/>
            <a:ext cx="8595360" cy="576072"/>
          </a:xfrm>
          <a:prstGeom prst="rect">
            <a:avLst/>
          </a:prstGeom>
          <a:solidFill>
            <a:srgbClr val="152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74320" y="822960"/>
            <a:ext cx="548640" cy="576072"/>
          </a:xfrm>
          <a:prstGeom prst="rect">
            <a:avLst/>
          </a:prstGeom>
          <a:solidFill>
            <a:srgbClr val="2E9E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" y="914400"/>
            <a:ext cx="393192" cy="3931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822960"/>
            <a:ext cx="7863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funcional validado con vacío ≥ −0,60 bar y sujeción de 500 g por ≥ 30 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274320" y="1481328"/>
            <a:ext cx="8595360" cy="576072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274320" y="1481328"/>
            <a:ext cx="548640" cy="576072"/>
          </a:xfrm>
          <a:prstGeom prst="rect">
            <a:avLst/>
          </a:prstGeom>
          <a:solidFill>
            <a:srgbClr val="2E9E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" y="1572768"/>
            <a:ext cx="393192" cy="3931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" y="1481328"/>
            <a:ext cx="7863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cartas de proceso documentadas bajo ISO 9001:2015 — 395 min setup / 775 min ciclo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274320" y="2139696"/>
            <a:ext cx="8595360" cy="576072"/>
          </a:xfrm>
          <a:prstGeom prst="rect">
            <a:avLst/>
          </a:prstGeom>
          <a:solidFill>
            <a:srgbClr val="152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274320" y="2139696"/>
            <a:ext cx="548640" cy="576072"/>
          </a:xfrm>
          <a:prstGeom prst="rect">
            <a:avLst/>
          </a:prstGeom>
          <a:solidFill>
            <a:srgbClr val="2E9E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" y="2231136"/>
            <a:ext cx="393192" cy="39319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4400" y="2139696"/>
            <a:ext cx="7863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prototipo: $1.701.700 COP | Precio de venta recomendado: $3.063.060 COP (80% margen)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274320" y="2798064"/>
            <a:ext cx="8595360" cy="576072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274320" y="2798064"/>
            <a:ext cx="548640" cy="576072"/>
          </a:xfrm>
          <a:prstGeom prst="rect">
            <a:avLst/>
          </a:prstGeom>
          <a:solidFill>
            <a:srgbClr val="2E9E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" y="2889504"/>
            <a:ext cx="393192" cy="39319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14400" y="2798064"/>
            <a:ext cx="7863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industrial solo 1,5% más costoso ($1.726.700) con mayor confiabilidad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274320" y="3456432"/>
            <a:ext cx="8595360" cy="576072"/>
          </a:xfrm>
          <a:prstGeom prst="rect">
            <a:avLst/>
          </a:prstGeom>
          <a:solidFill>
            <a:srgbClr val="152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6"/>
          <p:cNvSpPr/>
          <p:nvPr/>
        </p:nvSpPr>
        <p:spPr>
          <a:xfrm>
            <a:off x="274320" y="3456432"/>
            <a:ext cx="548640" cy="576072"/>
          </a:xfrm>
          <a:prstGeom prst="rect">
            <a:avLst/>
          </a:prstGeom>
          <a:solidFill>
            <a:srgbClr val="2E9E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" y="3547872"/>
            <a:ext cx="393192" cy="39319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14400" y="3456432"/>
            <a:ext cx="7863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QFD identifica Validación (8,2%) y Ciclo de vida (8,0%) como las variables más críticas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74320" y="4114800"/>
            <a:ext cx="8595360" cy="576072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19"/>
          <p:cNvSpPr/>
          <p:nvPr/>
        </p:nvSpPr>
        <p:spPr>
          <a:xfrm>
            <a:off x="274320" y="4114800"/>
            <a:ext cx="548640" cy="576072"/>
          </a:xfrm>
          <a:prstGeom prst="rect">
            <a:avLst/>
          </a:prstGeom>
          <a:solidFill>
            <a:srgbClr val="2E9E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328" y="4206240"/>
            <a:ext cx="393192" cy="39319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914400" y="4114800"/>
            <a:ext cx="7863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2,9 Nm en secuencia cruzada + estanqueidad 4 bar/60 s garantizan la integridad mecánica</a:t>
            </a:r>
            <a:endParaRPr lang="en-US" sz="1300" dirty="0"/>
          </a:p>
        </p:txBody>
      </p:sp>
      <p:sp>
        <p:nvSpPr>
          <p:cNvPr id="30" name="Text 21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0709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Universidad EAFIT  ·  Diseño Metódico — Grupo 6  ·  Mayo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1013</Words>
  <Application>Microsoft Office PowerPoint</Application>
  <PresentationFormat>On-screen Show (16:9)</PresentationFormat>
  <Paragraphs>244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Gripper Neumático — Fase 4</dc:title>
  <dc:subject>PptxGenJS Presentation</dc:subject>
  <dc:creator>Grupo 6 — EAFIT Diseño Metódico</dc:creator>
  <cp:lastModifiedBy>David Zuluaga</cp:lastModifiedBy>
  <cp:revision>2</cp:revision>
  <dcterms:created xsi:type="dcterms:W3CDTF">2026-05-07T13:44:16Z</dcterms:created>
  <dcterms:modified xsi:type="dcterms:W3CDTF">2026-05-07T14:04:09Z</dcterms:modified>
</cp:coreProperties>
</file>